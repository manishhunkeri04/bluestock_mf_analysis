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SIP Inflow Growth (Rs. Crore)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SIP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Jan'22</c:v>
                  </c:pt>
                  <c:pt idx="1">
                    <c:v>Jul'22</c:v>
                  </c:pt>
                  <c:pt idx="2">
                    <c:v>Jan'23</c:v>
                  </c:pt>
                  <c:pt idx="3">
                    <c:v>Jul'23</c:v>
                  </c:pt>
                  <c:pt idx="4">
                    <c:v>Jan'24</c:v>
                  </c:pt>
                  <c:pt idx="5">
                    <c:v>Jul'24</c:v>
                  </c:pt>
                  <c:pt idx="6">
                    <c:v>Jan'25</c:v>
                  </c:pt>
                  <c:pt idx="7">
                    <c:v>Dec'25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11517</c:v>
                </c:pt>
                <c:pt idx="1">
                  <c:v>12276</c:v>
                </c:pt>
                <c:pt idx="2">
                  <c:v>13856</c:v>
                </c:pt>
                <c:pt idx="3">
                  <c:v>15245</c:v>
                </c:pt>
                <c:pt idx="4">
                  <c:v>18838</c:v>
                </c:pt>
                <c:pt idx="5">
                  <c:v>23332</c:v>
                </c:pt>
                <c:pt idx="6">
                  <c:v>26400</c:v>
                </c:pt>
                <c:pt idx="7">
                  <c:v>31002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AUM by AMC (Lakh Cr)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AUM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SBI</c:v>
                  </c:pt>
                  <c:pt idx="1">
                    <c:v>ICICI</c:v>
                  </c:pt>
                  <c:pt idx="2">
                    <c:v>HDFC</c:v>
                  </c:pt>
                  <c:pt idx="3">
                    <c:v>Nippon</c:v>
                  </c:pt>
                  <c:pt idx="4">
                    <c:v>Kotak</c:v>
                  </c:pt>
                  <c:pt idx="5">
                    <c:v>ABSL</c:v>
                  </c:pt>
                  <c:pt idx="6">
                    <c:v>UTI</c:v>
                  </c:pt>
                  <c:pt idx="7">
                    <c:v>Axis</c:v>
                  </c:pt>
                  <c:pt idx="8">
                    <c:v>Mirae</c:v>
                  </c:pt>
                  <c:pt idx="9">
                    <c:v>DSP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12.5</c:v>
                </c:pt>
                <c:pt idx="1">
                  <c:v>9.2</c:v>
                </c:pt>
                <c:pt idx="2">
                  <c:v>8.8</c:v>
                </c:pt>
                <c:pt idx="3">
                  <c:v>5.1</c:v>
                </c:pt>
                <c:pt idx="4">
                  <c:v>4.6</c:v>
                </c:pt>
                <c:pt idx="5">
                  <c:v>4.2</c:v>
                </c:pt>
                <c:pt idx="6">
                  <c:v>3.8</c:v>
                </c:pt>
                <c:pt idx="7">
                  <c:v>3.1</c:v>
                </c:pt>
                <c:pt idx="8">
                  <c:v>2.5</c:v>
                </c:pt>
                <c:pt idx="9">
                  <c:v>1.8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Transaction Type Split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Lumpsum</c:v>
                </c:pt>
                <c:pt idx="1">
                  <c:v>Redemption</c:v>
                </c:pt>
                <c:pt idx="2">
                  <c:v>SIP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58</c:v>
                </c:pt>
                <c:pt idx="1">
                  <c:v>35</c:v>
                </c:pt>
                <c:pt idx="2">
                  <c:v>7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Avg Investment by Age Group (Rs.)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18-25</c:v>
                  </c:pt>
                  <c:pt idx="1">
                    <c:v>26-35</c:v>
                  </c:pt>
                  <c:pt idx="2">
                    <c:v>36-45</c:v>
                  </c:pt>
                  <c:pt idx="3">
                    <c:v>46-55</c:v>
                  </c:pt>
                  <c:pt idx="4">
                    <c:v>56+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95000</c:v>
                </c:pt>
                <c:pt idx="1">
                  <c:v>108000</c:v>
                </c:pt>
                <c:pt idx="2">
                  <c:v>112000</c:v>
                </c:pt>
                <c:pt idx="3">
                  <c:v>105000</c:v>
                </c:pt>
                <c:pt idx="4">
                  <c:v>98000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Top 5 Funds by Sharpe Ratio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Sharpe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HDFC Top100(D)</c:v>
                  </c:pt>
                  <c:pt idx="1">
                    <c:v>SBI SmallCap(D)</c:v>
                  </c:pt>
                  <c:pt idx="2">
                    <c:v>ABSL SmallCap(D)</c:v>
                  </c:pt>
                  <c:pt idx="3">
                    <c:v>Axis Midcap(D)</c:v>
                  </c:pt>
                  <c:pt idx="4">
                    <c:v>ICICI Blue(D)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1.09</c:v>
                </c:pt>
                <c:pt idx="1">
                  <c:v>1.07</c:v>
                </c:pt>
                <c:pt idx="2">
                  <c:v>1.04</c:v>
                </c:pt>
                <c:pt idx="3">
                  <c:v>1.02</c:v>
                </c:pt>
                <c:pt idx="4">
                  <c:v>0.99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243050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Max Drawdown % (Worst)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DD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SBI SmallCap</c:v>
                  </c:pt>
                  <c:pt idx="1">
                    <c:v>DSP SmallCap</c:v>
                  </c:pt>
                  <c:pt idx="2">
                    <c:v>ABSL SmallCap</c:v>
                  </c:pt>
                  <c:pt idx="3">
                    <c:v>Nippon LgCap</c:v>
                  </c:pt>
                  <c:pt idx="4">
                    <c:v>HDFC Top100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-35.4</c:v>
                </c:pt>
                <c:pt idx="1">
                  <c:v>-28.1</c:v>
                </c:pt>
                <c:pt idx="2">
                  <c:v>-24.9</c:v>
                </c:pt>
                <c:pt idx="3">
                  <c:v>-18.4</c:v>
                </c:pt>
                <c:pt idx="4">
                  <c:v>-15.2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243050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AUM Ranking by Fund House (Rs. Lakh Crore)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AUM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B21B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369A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65F4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2400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SBI</c:v>
                  </c:pt>
                  <c:pt idx="1">
                    <c:v>ICICI</c:v>
                  </c:pt>
                  <c:pt idx="2">
                    <c:v>HDFC</c:v>
                  </c:pt>
                  <c:pt idx="3">
                    <c:v>Nippon</c:v>
                  </c:pt>
                  <c:pt idx="4">
                    <c:v>Kotak</c:v>
                  </c:pt>
                  <c:pt idx="5">
                    <c:v>ABSL</c:v>
                  </c:pt>
                  <c:pt idx="6">
                    <c:v>UTI</c:v>
                  </c:pt>
                  <c:pt idx="7">
                    <c:v>Axis</c:v>
                  </c:pt>
                  <c:pt idx="8">
                    <c:v>Mirae</c:v>
                  </c:pt>
                  <c:pt idx="9">
                    <c:v>DSP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12.5</c:v>
                </c:pt>
                <c:pt idx="1">
                  <c:v>9.2</c:v>
                </c:pt>
                <c:pt idx="2">
                  <c:v>8.8</c:v>
                </c:pt>
                <c:pt idx="3">
                  <c:v>5.1</c:v>
                </c:pt>
                <c:pt idx="4">
                  <c:v>4.6</c:v>
                </c:pt>
                <c:pt idx="5">
                  <c:v>4.2</c:v>
                </c:pt>
                <c:pt idx="6">
                  <c:v>3.8</c:v>
                </c:pt>
                <c:pt idx="7">
                  <c:v>3.1</c:v>
                </c:pt>
                <c:pt idx="8">
                  <c:v>2.5</c:v>
                </c:pt>
                <c:pt idx="9">
                  <c:v>1.8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040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Monthly SIP Inflow Trend (Rs. Crore)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SIP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Jan'22</c:v>
                  </c:pt>
                  <c:pt idx="1">
                    <c:v>Apr'22</c:v>
                  </c:pt>
                  <c:pt idx="2">
                    <c:v>Jul'22</c:v>
                  </c:pt>
                  <c:pt idx="3">
                    <c:v>Jan'23</c:v>
                  </c:pt>
                  <c:pt idx="4">
                    <c:v>Apr'23</c:v>
                  </c:pt>
                  <c:pt idx="5">
                    <c:v>Jul'23</c:v>
                  </c:pt>
                  <c:pt idx="6">
                    <c:v>Jan'24</c:v>
                  </c:pt>
                  <c:pt idx="7">
                    <c:v>Apr'24</c:v>
                  </c:pt>
                  <c:pt idx="8">
                    <c:v>Jul'24</c:v>
                  </c:pt>
                  <c:pt idx="9">
                    <c:v>Jan'25</c:v>
                  </c:pt>
                  <c:pt idx="10">
                    <c:v>Apr'25</c:v>
                  </c:pt>
                  <c:pt idx="11">
                    <c:v>Dec'25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11517</c:v>
                </c:pt>
                <c:pt idx="1">
                  <c:v>12038</c:v>
                </c:pt>
                <c:pt idx="2">
                  <c:v>12276</c:v>
                </c:pt>
                <c:pt idx="3">
                  <c:v>13856</c:v>
                </c:pt>
                <c:pt idx="4">
                  <c:v>15163</c:v>
                </c:pt>
                <c:pt idx="5">
                  <c:v>15245</c:v>
                </c:pt>
                <c:pt idx="6">
                  <c:v>18838</c:v>
                </c:pt>
                <c:pt idx="7">
                  <c:v>20371</c:v>
                </c:pt>
                <c:pt idx="8">
                  <c:v>23332</c:v>
                </c:pt>
                <c:pt idx="9">
                  <c:v>26400</c:v>
                </c:pt>
                <c:pt idx="10">
                  <c:v>29000</c:v>
                </c:pt>
                <c:pt idx="11">
                  <c:v>31002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040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Transaction Type %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Txn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Lumpsum</c:v>
                </c:pt>
                <c:pt idx="1">
                  <c:v>Redemption</c:v>
                </c:pt>
                <c:pt idx="2">
                  <c:v>SIP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58</c:v>
                </c:pt>
                <c:pt idx="1">
                  <c:v>35</c:v>
                </c:pt>
                <c:pt idx="2">
                  <c:v>7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162040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Top States by SIP Amount (Rs. Bn)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Punjab</c:v>
                  </c:pt>
                  <c:pt idx="1">
                    <c:v>Tamil Nadu</c:v>
                  </c:pt>
                  <c:pt idx="2">
                    <c:v>Maharashtra</c:v>
                  </c:pt>
                  <c:pt idx="3">
                    <c:v>Gujarat</c:v>
                  </c:pt>
                  <c:pt idx="4">
                    <c:v>Rajasthan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4.2</c:v>
                </c:pt>
                <c:pt idx="1">
                  <c:v>3.9</c:v>
                </c:pt>
                <c:pt idx="2">
                  <c:v>3.5</c:v>
                </c:pt>
                <c:pt idx="3">
                  <c:v>3.1</c:v>
                </c:pt>
                <c:pt idx="4">
                  <c:v>2.8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040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T30 vs B30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T30 Cities</c:v>
                </c:pt>
                <c:pt idx="1">
                  <c:v>B30 Cities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66</c:v>
                </c:pt>
                <c:pt idx="1">
                  <c:v>34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1620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chart" Target="/ppt/charts/chart10.xml"/><Relationship Id="rId4" Type="http://schemas.openxmlformats.org/officeDocument/2006/relationships/chart" Target="/ppt/charts/chart1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028090">
              <a:alpha val="22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926080"/>
            <a:ext cx="2286000" cy="2286000"/>
          </a:xfrm>
          <a:prstGeom prst="ellipse">
            <a:avLst/>
          </a:prstGeom>
          <a:solidFill>
            <a:srgbClr val="02C39A">
              <a:alpha val="18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2C39A"/>
                </a:solidFill>
              </a:rPr>
              <a:t>BLUESTOCK FINTECH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Fund Analytics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</a:rPr>
              <a:t>Capstone Project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3090672"/>
            <a:ext cx="201168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Intern: Manish  |  Bluestock Fintech  |  June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C4E8"/>
                </a:solidFill>
              </a:rPr>
              <a:t>Data-driven insights on 40 mutual fund schemes, 32,778 investor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B0C4E8"/>
                </a:solidFill>
              </a:rPr>
              <a:t>transactions, and 4 years of NAV history — built end to end.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Objective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931920" cy="3474720"/>
          </a:xfrm>
          <a:prstGeom prst="roundRect">
            <a:avLst>
              <a:gd name="adj" fmla="val 315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430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</a:rPr>
              <a:t>The Problem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Retail investors lack tools to compare 40+ fund schemes objectively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No single view of NAV trends, risk metrics, and investor behaviour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Performance data scattered across AMFI, mfapi.in, and AMC sites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Advisors rely on marketing material over data-driven scorecards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960120"/>
            <a:ext cx="3931920" cy="3474720"/>
          </a:xfrm>
          <a:prstGeom prst="roundRect">
            <a:avLst>
              <a:gd name="adj" fmla="val 3158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11430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Our Objective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46320" y="164592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Build full ETL pipeline from raw CSVs to SQLite star schema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Compute VaR, Sharpe, Sortino, Alpha, Beta, Max Drawdown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Create interactive Power BI dashboard across 4 pages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Deliver a fund recommender and investor cohort intelligence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1887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Fund Master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6459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40 schemes across 10 AMCs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100584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29000" y="11887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NAV History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29000" y="16459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64,320 daily records (2022-26)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26480" y="100584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5B21B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63640" y="11887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Transactions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63640" y="16459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32,778 investor buy/sell records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0369A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1089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AUM Data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35661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Quarterly AUM per fund house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292608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065F4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29000" y="31089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SIP Inflows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29000" y="35661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Monthly industry SIP statistics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292608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92400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63640" y="31089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Benchmark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63640" y="35661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NIFTY 50, 100, Midcap, Smallcap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Live NAV from mfapi.in REST API  |  Static datasets by Bluestock Fintech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1508760" cy="2560320"/>
          </a:xfrm>
          <a:prstGeom prst="roundRect">
            <a:avLst>
              <a:gd name="adj" fmla="val 6061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38912" y="12344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Sources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8912" y="19202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10 CSVs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mfapi.in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74520" y="2377440"/>
            <a:ext cx="18288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57400" y="1097280"/>
            <a:ext cx="1508760" cy="2560320"/>
          </a:xfrm>
          <a:prstGeom prst="roundRect">
            <a:avLst>
              <a:gd name="adj" fmla="val 6061"/>
            </a:avLst>
          </a:prstGeom>
          <a:solidFill>
            <a:srgbClr val="5B21B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30552" y="12344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ETL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Pipeline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30552" y="19202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cleaning.py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db_loader.py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66160" y="2377440"/>
            <a:ext cx="18288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9040" y="1097280"/>
            <a:ext cx="1508760" cy="2560320"/>
          </a:xfrm>
          <a:prstGeom prst="roundRect">
            <a:avLst>
              <a:gd name="adj" fmla="val 6061"/>
            </a:avLst>
          </a:prstGeom>
          <a:solidFill>
            <a:srgbClr val="0369A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22192" y="12344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SQLite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Database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22192" y="19202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11 tables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97,590 rows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57800" y="2377440"/>
            <a:ext cx="18288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40680" y="1097280"/>
            <a:ext cx="1508760" cy="2560320"/>
          </a:xfrm>
          <a:prstGeom prst="roundRect">
            <a:avLst>
              <a:gd name="adj" fmla="val 6061"/>
            </a:avLst>
          </a:prstGeom>
          <a:solidFill>
            <a:srgbClr val="065F4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13832" y="12344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Analytics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Layer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13832" y="19202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EDA+Perf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+Advanced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49440" y="2377440"/>
            <a:ext cx="18288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0" y="1097280"/>
            <a:ext cx="1508760" cy="2560320"/>
          </a:xfrm>
          <a:prstGeom prst="roundRect">
            <a:avLst>
              <a:gd name="adj" fmla="val 6061"/>
            </a:avLst>
          </a:prstGeom>
          <a:solidFill>
            <a:srgbClr val="92400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205472" y="12344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Power BI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Dashboard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05472" y="19202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4 pages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Interactive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840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Python  |  Pandas  |  NumPy  |  Matplotlib  |  Seaborn  |  Plotly  |  SQLAlchemy  |  SQLite  |  SciPy  |  Jupyter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Highlights — Industry &amp; Flows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5156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Rs.81L Cr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Total Industry AUM (2025)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96012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3280" y="105156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Rs.31K Cr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383280" y="16916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SIP All-Time High Dec 2025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26480" y="96012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5B21B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05156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26.12 Cr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217920" y="16916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Total Investor Folios</a:t>
            </a:r>
            <a:endParaRPr lang="en-US" sz="10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57200" y="2514600"/>
          <a:ext cx="53035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3" name="Chart 1" descr=""/>
          <p:cNvGraphicFramePr/>
          <p:nvPr/>
        </p:nvGraphicFramePr>
        <p:xfrm>
          <a:off x="5943600" y="2514600"/>
          <a:ext cx="30175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Highlights — Investor Profile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60120"/>
          <a:ext cx="39319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572000" y="960120"/>
          <a:ext cx="43891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hape 1"/>
          <p:cNvSpPr/>
          <p:nvPr/>
        </p:nvSpPr>
        <p:spPr>
          <a:xfrm>
            <a:off x="4572000" y="3429000"/>
            <a:ext cx="4389120" cy="146304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4754880" y="35204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Key Insight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754880" y="388620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26-35 age group drives 41% of transactions. Punjab and Tamil Nadu lead state-wise. UPI is the dominant payment mode.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Metrics — Risk &amp; Return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1920240" cy="1737360"/>
          </a:xfrm>
          <a:prstGeom prst="roundRect">
            <a:avLst>
              <a:gd name="adj" fmla="val 5263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5156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23.4%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Best 3-Yr CAGR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</a:rPr>
              <a:t>SBI Small Cap Direct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68880" y="960120"/>
            <a:ext cx="1920240" cy="1737360"/>
          </a:xfrm>
          <a:prstGeom prst="roundRect">
            <a:avLst>
              <a:gd name="adj" fmla="val 5263"/>
            </a:avLst>
          </a:prstGeom>
          <a:solidFill>
            <a:srgbClr val="5B21B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05156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1.09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560320" y="17373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Highest Sharpe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0" y="21031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</a:rPr>
              <a:t>HDFC Top 100 Direct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960120"/>
            <a:ext cx="1920240" cy="1737360"/>
          </a:xfrm>
          <a:prstGeom prst="roundRect">
            <a:avLst>
              <a:gd name="adj" fmla="val 5263"/>
            </a:avLst>
          </a:prstGeom>
          <a:solidFill>
            <a:srgbClr val="065F4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05156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+27.2%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63440" y="17373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Best Alpha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63440" y="21031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</a:rPr>
              <a:t>ABSL Small Cap Direct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75120" y="960120"/>
            <a:ext cx="1920240" cy="1737360"/>
          </a:xfrm>
          <a:prstGeom prst="roundRect">
            <a:avLst>
              <a:gd name="adj" fmla="val 5263"/>
            </a:avLst>
          </a:prstGeom>
          <a:solidFill>
            <a:srgbClr val="92400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66560" y="105156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-0.08%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766560" y="17373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Safest VaR 95%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66560" y="21031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</a:rPr>
              <a:t>ICICI Liquid Fund</a:t>
            </a:r>
            <a:endParaRPr lang="en-US" sz="9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365760" y="2880360"/>
          <a:ext cx="50292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0" name="Chart 1" descr=""/>
          <p:cNvGraphicFramePr/>
          <p:nvPr/>
        </p:nvGraphicFramePr>
        <p:xfrm>
          <a:off x="5577840" y="2880360"/>
          <a:ext cx="33832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Metrics — Fund Scorecard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3474720"/>
        </p:xfrm>
        <a:graphic>
          <a:graphicData uri="http://schemas.openxmlformats.org/drawingml/2006/table">
            <a:tbl>
              <a:tblPr/>
              <a:tblGrid>
                <a:gridCol w="548640"/>
                <a:gridCol w="3200400"/>
                <a:gridCol w="822960"/>
                <a:gridCol w="914400"/>
                <a:gridCol w="731520"/>
                <a:gridCol w="82296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3yr CAGR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SBI Small Cap - Direct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HDFC Top 100 - Direct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ABSL Small Cap - Direct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 Midcap - Direct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ICICI Pru Bluechip - Direct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Nippon Large Cap - Direct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Kotak Emerging Equity - Direct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Composite score: 30% 3yr CAGR + 25% Sharpe + 20% Alpha + 15% Expense (inverse) + 10% Max Drawdown (inverse)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Industry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601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Rs.81L Cr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Total AUM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468880" y="8686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5B21B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0" y="9601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Rs.31K Cr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560320" y="1463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SIP ATH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8686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65F4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9601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26.12 Cr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3440" y="1463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Folios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75120" y="8686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92400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66560" y="9601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766560" y="1463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Schemes</a:t>
            </a:r>
            <a:endParaRPr lang="en-US" sz="10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365760" y="2194560"/>
          <a:ext cx="841248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SIP &amp; Investor Analytics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868680"/>
          <a:ext cx="53035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5852160" y="868680"/>
          <a:ext cx="30175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2" descr=""/>
          <p:cNvGraphicFramePr/>
          <p:nvPr/>
        </p:nvGraphicFramePr>
        <p:xfrm>
          <a:off x="365760" y="3383280"/>
          <a:ext cx="530352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3" descr=""/>
          <p:cNvGraphicFramePr/>
          <p:nvPr/>
        </p:nvGraphicFramePr>
        <p:xfrm>
          <a:off x="5852160" y="3383280"/>
          <a:ext cx="301752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11480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66928" y="10972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0972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06984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SIP Culture is Booming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1417320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Monthly SIP inflows grew 169% from Rs.11,517 Cr to Rs.31,002 Cr — an all-time high in Dec 2025.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960120"/>
            <a:ext cx="411480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10328" y="10972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910328" y="10972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0" y="106984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SBI Dominates AUM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1417320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SBI Mutual Fund commands Rs.12.5 Lakh Crore, nearly double its 2022 figure.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350008"/>
            <a:ext cx="411480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6928" y="248716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5B21B6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4871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" y="245973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1B6"/>
                </a:solidFill>
              </a:rPr>
              <a:t>Direct Plans Win on Cost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2807208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Direct plans save investors up to 0.9% annually in fees — significant over 10+ year horizons.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2350008"/>
            <a:ext cx="411480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10328" y="248716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369A1"/>
          </a:solidFill>
          <a:ln/>
        </p:spPr>
      </p:sp>
      <p:sp>
        <p:nvSpPr>
          <p:cNvPr id="20" name="Text 18"/>
          <p:cNvSpPr/>
          <p:nvPr/>
        </p:nvSpPr>
        <p:spPr>
          <a:xfrm>
            <a:off x="4910328" y="24871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0" y="245973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</a:rPr>
              <a:t>Large-Caps Highly Correlated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0" y="2807208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SBI, HDFC, Axis Bluechip show 0.92-0.97 correlation. Diversification needs small cap or debt.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739896"/>
            <a:ext cx="411480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66928" y="3877056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65F46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38770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43000" y="384962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</a:rPr>
              <a:t>Banking Sector Dominates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" y="4197096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Banking is the largest sector weight — 3 sectors represent ~50% of total equity exposure.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3739896"/>
            <a:ext cx="411480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10328" y="3877056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92400E"/>
          </a:solidFill>
          <a:ln/>
        </p:spPr>
      </p:sp>
      <p:sp>
        <p:nvSpPr>
          <p:cNvPr id="30" name="Text 28"/>
          <p:cNvSpPr/>
          <p:nvPr/>
        </p:nvSpPr>
        <p:spPr>
          <a:xfrm>
            <a:off x="4910328" y="38770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0" y="384962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</a:rPr>
              <a:t>26-35 Age Group Leads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0" y="4197096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Investors aged 26-35 account for 41% of all transactions and highest total invested amount.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731520"/>
            <a:ext cx="3657600" cy="3657600"/>
          </a:xfrm>
          <a:prstGeom prst="ellipse">
            <a:avLst/>
          </a:prstGeom>
          <a:solidFill>
            <a:srgbClr val="028090">
              <a:alpha val="22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02C39A">
              <a:alpha val="18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8229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3200400" y="2331720"/>
            <a:ext cx="27432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514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Bluestock Fintech Mutual Fund Analytics Project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</a:rPr>
              <a:t>Manish  |  Bluestock Intern  |  June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GitHub: github.com/Manishhunkeri04/bluestock_mf_analysis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0690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Data: AMFI India  |  mfapi.in  |  Bluestock Fintech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Bluestock Intern</dc:creator>
  <cp:lastModifiedBy>Bluestock Intern</cp:lastModifiedBy>
  <cp:revision>1</cp:revision>
  <dcterms:created xsi:type="dcterms:W3CDTF">2026-06-17T11:49:09Z</dcterms:created>
  <dcterms:modified xsi:type="dcterms:W3CDTF">2026-06-17T11:49:09Z</dcterms:modified>
</cp:coreProperties>
</file>